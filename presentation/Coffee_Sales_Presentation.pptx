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72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CB8AC1-41D5-4353-B7C6-683A54DE075D}" v="510" dt="2025-11-03T20:04:02.4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5F3666-6A9D-419D-8591-D7191A7FBB69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23650F9-5A0D-4F4A-BC4E-CD849A272642}">
      <dgm:prSet custT="1"/>
      <dgm:spPr/>
      <dgm:t>
        <a:bodyPr/>
        <a:lstStyle/>
        <a:p>
          <a:r>
            <a:rPr lang="en-GB" sz="2000" dirty="0">
              <a:ea typeface="+mn-ea"/>
              <a:cs typeface="+mn-cs"/>
            </a:rPr>
            <a:t>Dataset</a:t>
          </a:r>
          <a:r>
            <a:rPr lang="en-US" sz="2000" dirty="0">
              <a:ea typeface="+mn-ea"/>
              <a:cs typeface="+mn-cs"/>
            </a:rPr>
            <a:t> Overview</a:t>
          </a:r>
        </a:p>
      </dgm:t>
    </dgm:pt>
    <dgm:pt modelId="{F87B5EC7-0A3D-4DD0-9065-2273F54DCF75}" type="parTrans" cxnId="{1F252F8F-176F-4889-AEA6-E4EEAE1FA1B1}">
      <dgm:prSet/>
      <dgm:spPr/>
      <dgm:t>
        <a:bodyPr/>
        <a:lstStyle/>
        <a:p>
          <a:endParaRPr lang="en-US"/>
        </a:p>
      </dgm:t>
    </dgm:pt>
    <dgm:pt modelId="{90F71B39-D84E-47B9-AF95-B2391A2DE936}" type="sibTrans" cxnId="{1F252F8F-176F-4889-AEA6-E4EEAE1FA1B1}">
      <dgm:prSet/>
      <dgm:spPr/>
      <dgm:t>
        <a:bodyPr/>
        <a:lstStyle/>
        <a:p>
          <a:endParaRPr lang="en-US"/>
        </a:p>
      </dgm:t>
    </dgm:pt>
    <dgm:pt modelId="{A8DFFB8C-FF6C-4BA3-81B1-38FA28FC5C53}">
      <dgm:prSet custT="1"/>
      <dgm:spPr/>
      <dgm:t>
        <a:bodyPr/>
        <a:lstStyle/>
        <a:p>
          <a:r>
            <a:rPr lang="en-US" sz="2000" dirty="0">
              <a:ea typeface="+mn-ea"/>
              <a:cs typeface="+mn-cs"/>
            </a:rPr>
            <a:t>Data Cleaning</a:t>
          </a:r>
        </a:p>
      </dgm:t>
    </dgm:pt>
    <dgm:pt modelId="{1734A457-D4C8-45DB-863F-928824AE5676}" type="parTrans" cxnId="{65ADE510-F9E5-4588-96DB-07FBF73FAC31}">
      <dgm:prSet/>
      <dgm:spPr/>
      <dgm:t>
        <a:bodyPr/>
        <a:lstStyle/>
        <a:p>
          <a:endParaRPr lang="en-US"/>
        </a:p>
      </dgm:t>
    </dgm:pt>
    <dgm:pt modelId="{8E4C8A54-D312-4B2E-A0FF-987D5570D5A4}" type="sibTrans" cxnId="{65ADE510-F9E5-4588-96DB-07FBF73FAC31}">
      <dgm:prSet/>
      <dgm:spPr/>
      <dgm:t>
        <a:bodyPr/>
        <a:lstStyle/>
        <a:p>
          <a:endParaRPr lang="en-US"/>
        </a:p>
      </dgm:t>
    </dgm:pt>
    <dgm:pt modelId="{DAAFB711-B31F-4495-94D2-C70E6176D99E}">
      <dgm:prSet custT="1"/>
      <dgm:spPr/>
      <dgm:t>
        <a:bodyPr/>
        <a:lstStyle/>
        <a:p>
          <a:r>
            <a:rPr lang="en-US" sz="2000" dirty="0">
              <a:ea typeface="+mn-ea"/>
              <a:cs typeface="+mn-cs"/>
            </a:rPr>
            <a:t>Descriptive Statistics</a:t>
          </a:r>
        </a:p>
      </dgm:t>
    </dgm:pt>
    <dgm:pt modelId="{9F61A19B-F062-4ECD-A141-4BD69C1E4155}" type="parTrans" cxnId="{C5B9DACC-5754-4EC0-8B9F-5DA94EA97408}">
      <dgm:prSet/>
      <dgm:spPr/>
      <dgm:t>
        <a:bodyPr/>
        <a:lstStyle/>
        <a:p>
          <a:endParaRPr lang="en-US"/>
        </a:p>
      </dgm:t>
    </dgm:pt>
    <dgm:pt modelId="{DFEABBFE-40F2-4259-94A6-1B36E25915D8}" type="sibTrans" cxnId="{C5B9DACC-5754-4EC0-8B9F-5DA94EA97408}">
      <dgm:prSet/>
      <dgm:spPr/>
      <dgm:t>
        <a:bodyPr/>
        <a:lstStyle/>
        <a:p>
          <a:endParaRPr lang="en-US"/>
        </a:p>
      </dgm:t>
    </dgm:pt>
    <dgm:pt modelId="{3BB7D7AC-4CD1-4A0E-9262-0C8D93708A49}">
      <dgm:prSet custT="1"/>
      <dgm:spPr/>
      <dgm:t>
        <a:bodyPr/>
        <a:lstStyle/>
        <a:p>
          <a:r>
            <a:rPr lang="en-US" sz="2000" dirty="0">
              <a:ea typeface="+mn-ea"/>
              <a:cs typeface="+mn-cs"/>
            </a:rPr>
            <a:t>Key Visualizations</a:t>
          </a:r>
        </a:p>
      </dgm:t>
    </dgm:pt>
    <dgm:pt modelId="{A00C4F22-724D-42A1-885A-28969D632ED5}" type="parTrans" cxnId="{A218E749-1EBC-4F90-B747-A4FF40EE50AC}">
      <dgm:prSet/>
      <dgm:spPr/>
      <dgm:t>
        <a:bodyPr/>
        <a:lstStyle/>
        <a:p>
          <a:endParaRPr lang="en-US"/>
        </a:p>
      </dgm:t>
    </dgm:pt>
    <dgm:pt modelId="{4463D1A6-197A-4453-BC0F-EDB98CB04328}" type="sibTrans" cxnId="{A218E749-1EBC-4F90-B747-A4FF40EE50AC}">
      <dgm:prSet/>
      <dgm:spPr/>
      <dgm:t>
        <a:bodyPr/>
        <a:lstStyle/>
        <a:p>
          <a:endParaRPr lang="en-US"/>
        </a:p>
      </dgm:t>
    </dgm:pt>
    <dgm:pt modelId="{86BD9EE3-4805-4809-8603-845C435A255E}">
      <dgm:prSet custT="1"/>
      <dgm:spPr/>
      <dgm:t>
        <a:bodyPr/>
        <a:lstStyle/>
        <a:p>
          <a:r>
            <a:rPr lang="en-US" sz="2000" dirty="0">
              <a:ea typeface="+mn-ea"/>
              <a:cs typeface="+mn-cs"/>
            </a:rPr>
            <a:t>Hypothesis Testing</a:t>
          </a:r>
        </a:p>
      </dgm:t>
    </dgm:pt>
    <dgm:pt modelId="{0BC25A5E-AFF7-4AB7-A13F-10F5AA1F061E}" type="parTrans" cxnId="{1165753D-AFFF-4C2D-ADEB-BCF6A9F6D3FD}">
      <dgm:prSet/>
      <dgm:spPr/>
      <dgm:t>
        <a:bodyPr/>
        <a:lstStyle/>
        <a:p>
          <a:endParaRPr lang="en-US"/>
        </a:p>
      </dgm:t>
    </dgm:pt>
    <dgm:pt modelId="{7C24E90A-CFC9-42B9-AE0E-FBE7A3784FB6}" type="sibTrans" cxnId="{1165753D-AFFF-4C2D-ADEB-BCF6A9F6D3FD}">
      <dgm:prSet/>
      <dgm:spPr/>
      <dgm:t>
        <a:bodyPr/>
        <a:lstStyle/>
        <a:p>
          <a:endParaRPr lang="en-US"/>
        </a:p>
      </dgm:t>
    </dgm:pt>
    <dgm:pt modelId="{1610D19F-7E2D-4650-874C-9D30AC7ABC85}">
      <dgm:prSet custT="1"/>
      <dgm:spPr/>
      <dgm:t>
        <a:bodyPr/>
        <a:lstStyle/>
        <a:p>
          <a:r>
            <a:rPr lang="en-US" sz="2000" dirty="0">
              <a:ea typeface="+mn-ea"/>
              <a:cs typeface="+mn-cs"/>
            </a:rPr>
            <a:t>Machine Learning Models</a:t>
          </a:r>
        </a:p>
      </dgm:t>
    </dgm:pt>
    <dgm:pt modelId="{2C8D802D-B27A-441F-B44D-0A1F7DE2D211}" type="parTrans" cxnId="{8ED513A9-C465-4D58-BE44-092EA481BCF3}">
      <dgm:prSet/>
      <dgm:spPr/>
      <dgm:t>
        <a:bodyPr/>
        <a:lstStyle/>
        <a:p>
          <a:endParaRPr lang="en-US"/>
        </a:p>
      </dgm:t>
    </dgm:pt>
    <dgm:pt modelId="{A7487197-EB10-4C43-884B-B940C2C45114}" type="sibTrans" cxnId="{8ED513A9-C465-4D58-BE44-092EA481BCF3}">
      <dgm:prSet/>
      <dgm:spPr/>
      <dgm:t>
        <a:bodyPr/>
        <a:lstStyle/>
        <a:p>
          <a:endParaRPr lang="en-US"/>
        </a:p>
      </dgm:t>
    </dgm:pt>
    <dgm:pt modelId="{2C7CD253-B454-4B92-888A-935B42A5D9B8}">
      <dgm:prSet custT="1"/>
      <dgm:spPr/>
      <dgm:t>
        <a:bodyPr/>
        <a:lstStyle/>
        <a:p>
          <a:r>
            <a:rPr lang="en-US" sz="2000" dirty="0">
              <a:ea typeface="+mn-ea"/>
              <a:cs typeface="+mn-cs"/>
            </a:rPr>
            <a:t>Model Performance</a:t>
          </a:r>
        </a:p>
      </dgm:t>
    </dgm:pt>
    <dgm:pt modelId="{63594324-0900-407D-B288-F12781354065}" type="parTrans" cxnId="{1778274D-79D5-4686-AA67-4620226A5765}">
      <dgm:prSet/>
      <dgm:spPr/>
      <dgm:t>
        <a:bodyPr/>
        <a:lstStyle/>
        <a:p>
          <a:endParaRPr lang="en-US"/>
        </a:p>
      </dgm:t>
    </dgm:pt>
    <dgm:pt modelId="{5E7E862B-45F6-46C1-9527-7021C65EECE2}" type="sibTrans" cxnId="{1778274D-79D5-4686-AA67-4620226A5765}">
      <dgm:prSet/>
      <dgm:spPr/>
      <dgm:t>
        <a:bodyPr/>
        <a:lstStyle/>
        <a:p>
          <a:endParaRPr lang="en-US"/>
        </a:p>
      </dgm:t>
    </dgm:pt>
    <dgm:pt modelId="{17C32951-8FA4-44E4-955C-420660E9A4C8}">
      <dgm:prSet custT="1"/>
      <dgm:spPr/>
      <dgm:t>
        <a:bodyPr/>
        <a:lstStyle/>
        <a:p>
          <a:r>
            <a:rPr lang="en-US" sz="2000" dirty="0">
              <a:ea typeface="+mn-ea"/>
              <a:cs typeface="+mn-cs"/>
            </a:rPr>
            <a:t>Business Recommendations</a:t>
          </a:r>
        </a:p>
      </dgm:t>
    </dgm:pt>
    <dgm:pt modelId="{E4EAD3DC-6783-4E8F-8220-AD8B2A0B6BF7}" type="parTrans" cxnId="{BD876020-F30A-4587-BFC6-C937F316C621}">
      <dgm:prSet/>
      <dgm:spPr/>
      <dgm:t>
        <a:bodyPr/>
        <a:lstStyle/>
        <a:p>
          <a:endParaRPr lang="en-US"/>
        </a:p>
      </dgm:t>
    </dgm:pt>
    <dgm:pt modelId="{5FB27A4D-074C-440E-A677-9A31C9E84CCF}" type="sibTrans" cxnId="{BD876020-F30A-4587-BFC6-C937F316C621}">
      <dgm:prSet/>
      <dgm:spPr/>
      <dgm:t>
        <a:bodyPr/>
        <a:lstStyle/>
        <a:p>
          <a:endParaRPr lang="en-US"/>
        </a:p>
      </dgm:t>
    </dgm:pt>
    <dgm:pt modelId="{00180539-F6A5-461F-B845-2B0C4A15C9B9}">
      <dgm:prSet custT="1"/>
      <dgm:spPr/>
      <dgm:t>
        <a:bodyPr/>
        <a:lstStyle/>
        <a:p>
          <a:r>
            <a:rPr lang="en-US" sz="2000" dirty="0">
              <a:ea typeface="+mn-ea"/>
              <a:cs typeface="+mn-cs"/>
            </a:rPr>
            <a:t>GitHub &amp; Version Control</a:t>
          </a:r>
        </a:p>
      </dgm:t>
    </dgm:pt>
    <dgm:pt modelId="{20E5F106-B596-44A7-A447-346278EC1A33}" type="parTrans" cxnId="{5B8A7F95-8530-457E-988A-48EA53562EA0}">
      <dgm:prSet/>
      <dgm:spPr/>
      <dgm:t>
        <a:bodyPr/>
        <a:lstStyle/>
        <a:p>
          <a:endParaRPr lang="en-US"/>
        </a:p>
      </dgm:t>
    </dgm:pt>
    <dgm:pt modelId="{C5BE9152-AF0C-4C5D-86CE-C659F0506423}" type="sibTrans" cxnId="{5B8A7F95-8530-457E-988A-48EA53562EA0}">
      <dgm:prSet/>
      <dgm:spPr/>
      <dgm:t>
        <a:bodyPr/>
        <a:lstStyle/>
        <a:p>
          <a:endParaRPr lang="en-US"/>
        </a:p>
      </dgm:t>
    </dgm:pt>
    <dgm:pt modelId="{1727D2AF-76DF-4292-931D-8AB2E2E079E0}">
      <dgm:prSet custT="1"/>
      <dgm:spPr/>
      <dgm:t>
        <a:bodyPr/>
        <a:lstStyle/>
        <a:p>
          <a:r>
            <a:rPr lang="en-US" sz="2000" dirty="0">
              <a:ea typeface="+mn-ea"/>
              <a:cs typeface="+mn-cs"/>
            </a:rPr>
            <a:t>Q&amp;A</a:t>
          </a:r>
        </a:p>
      </dgm:t>
    </dgm:pt>
    <dgm:pt modelId="{9A3E713E-CA6D-4670-A8B4-77F66712BE42}" type="parTrans" cxnId="{DEB37FBD-9DC0-4132-BD74-C172A23C4808}">
      <dgm:prSet/>
      <dgm:spPr/>
      <dgm:t>
        <a:bodyPr/>
        <a:lstStyle/>
        <a:p>
          <a:endParaRPr lang="en-US"/>
        </a:p>
      </dgm:t>
    </dgm:pt>
    <dgm:pt modelId="{E223A499-F700-4916-9569-CDD24131ADFA}" type="sibTrans" cxnId="{DEB37FBD-9DC0-4132-BD74-C172A23C4808}">
      <dgm:prSet/>
      <dgm:spPr/>
      <dgm:t>
        <a:bodyPr/>
        <a:lstStyle/>
        <a:p>
          <a:endParaRPr lang="en-US"/>
        </a:p>
      </dgm:t>
    </dgm:pt>
    <dgm:pt modelId="{E5652E7F-3AC3-4E73-A00E-B63D4FE7A95A}" type="pres">
      <dgm:prSet presAssocID="{2E5F3666-6A9D-419D-8591-D7191A7FBB69}" presName="diagram" presStyleCnt="0">
        <dgm:presLayoutVars>
          <dgm:dir/>
          <dgm:resizeHandles val="exact"/>
        </dgm:presLayoutVars>
      </dgm:prSet>
      <dgm:spPr/>
    </dgm:pt>
    <dgm:pt modelId="{A841828D-32FF-42B0-83CE-C43B84BF9935}" type="pres">
      <dgm:prSet presAssocID="{723650F9-5A0D-4F4A-BC4E-CD849A272642}" presName="node" presStyleLbl="node1" presStyleIdx="0" presStyleCnt="10">
        <dgm:presLayoutVars>
          <dgm:bulletEnabled val="1"/>
        </dgm:presLayoutVars>
      </dgm:prSet>
      <dgm:spPr/>
    </dgm:pt>
    <dgm:pt modelId="{8A8DC6A8-EB7E-4E27-8BD3-D96B490BEE2B}" type="pres">
      <dgm:prSet presAssocID="{90F71B39-D84E-47B9-AF95-B2391A2DE936}" presName="sibTrans" presStyleCnt="0"/>
      <dgm:spPr/>
    </dgm:pt>
    <dgm:pt modelId="{A2222809-5A06-44E8-8861-5ECFC74459EC}" type="pres">
      <dgm:prSet presAssocID="{A8DFFB8C-FF6C-4BA3-81B1-38FA28FC5C53}" presName="node" presStyleLbl="node1" presStyleIdx="1" presStyleCnt="10">
        <dgm:presLayoutVars>
          <dgm:bulletEnabled val="1"/>
        </dgm:presLayoutVars>
      </dgm:prSet>
      <dgm:spPr/>
    </dgm:pt>
    <dgm:pt modelId="{1561D882-C664-4EC4-A9E1-602EE17AECA8}" type="pres">
      <dgm:prSet presAssocID="{8E4C8A54-D312-4B2E-A0FF-987D5570D5A4}" presName="sibTrans" presStyleCnt="0"/>
      <dgm:spPr/>
    </dgm:pt>
    <dgm:pt modelId="{362E9129-ED07-4211-904A-D909F78BDA6C}" type="pres">
      <dgm:prSet presAssocID="{DAAFB711-B31F-4495-94D2-C70E6176D99E}" presName="node" presStyleLbl="node1" presStyleIdx="2" presStyleCnt="10">
        <dgm:presLayoutVars>
          <dgm:bulletEnabled val="1"/>
        </dgm:presLayoutVars>
      </dgm:prSet>
      <dgm:spPr/>
    </dgm:pt>
    <dgm:pt modelId="{6E6A98A8-784A-4511-8E60-9F7FDE5E1E77}" type="pres">
      <dgm:prSet presAssocID="{DFEABBFE-40F2-4259-94A6-1B36E25915D8}" presName="sibTrans" presStyleCnt="0"/>
      <dgm:spPr/>
    </dgm:pt>
    <dgm:pt modelId="{8090F664-6F18-414B-8024-87F0932AB8AB}" type="pres">
      <dgm:prSet presAssocID="{3BB7D7AC-4CD1-4A0E-9262-0C8D93708A49}" presName="node" presStyleLbl="node1" presStyleIdx="3" presStyleCnt="10">
        <dgm:presLayoutVars>
          <dgm:bulletEnabled val="1"/>
        </dgm:presLayoutVars>
      </dgm:prSet>
      <dgm:spPr/>
    </dgm:pt>
    <dgm:pt modelId="{D0A416DA-EA84-41D3-AD32-B8E371110FF2}" type="pres">
      <dgm:prSet presAssocID="{4463D1A6-197A-4453-BC0F-EDB98CB04328}" presName="sibTrans" presStyleCnt="0"/>
      <dgm:spPr/>
    </dgm:pt>
    <dgm:pt modelId="{21D1E85D-3BC1-407E-845A-8B77632F5638}" type="pres">
      <dgm:prSet presAssocID="{86BD9EE3-4805-4809-8603-845C435A255E}" presName="node" presStyleLbl="node1" presStyleIdx="4" presStyleCnt="10">
        <dgm:presLayoutVars>
          <dgm:bulletEnabled val="1"/>
        </dgm:presLayoutVars>
      </dgm:prSet>
      <dgm:spPr/>
    </dgm:pt>
    <dgm:pt modelId="{46C834F5-70FF-4007-A0EC-AD194C745B0E}" type="pres">
      <dgm:prSet presAssocID="{7C24E90A-CFC9-42B9-AE0E-FBE7A3784FB6}" presName="sibTrans" presStyleCnt="0"/>
      <dgm:spPr/>
    </dgm:pt>
    <dgm:pt modelId="{D5DAB3F6-9DBA-4D73-AB4D-3305C0B5CCDE}" type="pres">
      <dgm:prSet presAssocID="{1610D19F-7E2D-4650-874C-9D30AC7ABC85}" presName="node" presStyleLbl="node1" presStyleIdx="5" presStyleCnt="10">
        <dgm:presLayoutVars>
          <dgm:bulletEnabled val="1"/>
        </dgm:presLayoutVars>
      </dgm:prSet>
      <dgm:spPr/>
    </dgm:pt>
    <dgm:pt modelId="{EF937B95-3CB6-4FD7-89B6-91A072FDADF7}" type="pres">
      <dgm:prSet presAssocID="{A7487197-EB10-4C43-884B-B940C2C45114}" presName="sibTrans" presStyleCnt="0"/>
      <dgm:spPr/>
    </dgm:pt>
    <dgm:pt modelId="{0EAAB594-81E9-4C50-8BAB-BB0919AA0F68}" type="pres">
      <dgm:prSet presAssocID="{2C7CD253-B454-4B92-888A-935B42A5D9B8}" presName="node" presStyleLbl="node1" presStyleIdx="6" presStyleCnt="10">
        <dgm:presLayoutVars>
          <dgm:bulletEnabled val="1"/>
        </dgm:presLayoutVars>
      </dgm:prSet>
      <dgm:spPr/>
    </dgm:pt>
    <dgm:pt modelId="{E9C333D9-02E3-45AB-A1EA-C0CB9274715F}" type="pres">
      <dgm:prSet presAssocID="{5E7E862B-45F6-46C1-9527-7021C65EECE2}" presName="sibTrans" presStyleCnt="0"/>
      <dgm:spPr/>
    </dgm:pt>
    <dgm:pt modelId="{ACEE4233-ADB8-48BC-9387-9FE0D7E1F05D}" type="pres">
      <dgm:prSet presAssocID="{17C32951-8FA4-44E4-955C-420660E9A4C8}" presName="node" presStyleLbl="node1" presStyleIdx="7" presStyleCnt="10">
        <dgm:presLayoutVars>
          <dgm:bulletEnabled val="1"/>
        </dgm:presLayoutVars>
      </dgm:prSet>
      <dgm:spPr/>
    </dgm:pt>
    <dgm:pt modelId="{F8A5B80D-9A96-48F8-8C1E-564A2DDF2702}" type="pres">
      <dgm:prSet presAssocID="{5FB27A4D-074C-440E-A677-9A31C9E84CCF}" presName="sibTrans" presStyleCnt="0"/>
      <dgm:spPr/>
    </dgm:pt>
    <dgm:pt modelId="{602FEE6D-23DB-4664-AD99-4796C1B6F696}" type="pres">
      <dgm:prSet presAssocID="{00180539-F6A5-461F-B845-2B0C4A15C9B9}" presName="node" presStyleLbl="node1" presStyleIdx="8" presStyleCnt="10">
        <dgm:presLayoutVars>
          <dgm:bulletEnabled val="1"/>
        </dgm:presLayoutVars>
      </dgm:prSet>
      <dgm:spPr/>
    </dgm:pt>
    <dgm:pt modelId="{B2052547-7B3B-4108-ADF3-451B6F3A8759}" type="pres">
      <dgm:prSet presAssocID="{C5BE9152-AF0C-4C5D-86CE-C659F0506423}" presName="sibTrans" presStyleCnt="0"/>
      <dgm:spPr/>
    </dgm:pt>
    <dgm:pt modelId="{CAC65AE1-ECDD-4045-B7BD-D7F59BB5E268}" type="pres">
      <dgm:prSet presAssocID="{1727D2AF-76DF-4292-931D-8AB2E2E079E0}" presName="node" presStyleLbl="node1" presStyleIdx="9" presStyleCnt="10">
        <dgm:presLayoutVars>
          <dgm:bulletEnabled val="1"/>
        </dgm:presLayoutVars>
      </dgm:prSet>
      <dgm:spPr/>
    </dgm:pt>
  </dgm:ptLst>
  <dgm:cxnLst>
    <dgm:cxn modelId="{65ADE510-F9E5-4588-96DB-07FBF73FAC31}" srcId="{2E5F3666-6A9D-419D-8591-D7191A7FBB69}" destId="{A8DFFB8C-FF6C-4BA3-81B1-38FA28FC5C53}" srcOrd="1" destOrd="0" parTransId="{1734A457-D4C8-45DB-863F-928824AE5676}" sibTransId="{8E4C8A54-D312-4B2E-A0FF-987D5570D5A4}"/>
    <dgm:cxn modelId="{A433AA1B-D9CB-4945-9736-DCD4DDCDBD56}" type="presOf" srcId="{17C32951-8FA4-44E4-955C-420660E9A4C8}" destId="{ACEE4233-ADB8-48BC-9387-9FE0D7E1F05D}" srcOrd="0" destOrd="0" presId="urn:microsoft.com/office/officeart/2005/8/layout/default"/>
    <dgm:cxn modelId="{BD876020-F30A-4587-BFC6-C937F316C621}" srcId="{2E5F3666-6A9D-419D-8591-D7191A7FBB69}" destId="{17C32951-8FA4-44E4-955C-420660E9A4C8}" srcOrd="7" destOrd="0" parTransId="{E4EAD3DC-6783-4E8F-8220-AD8B2A0B6BF7}" sibTransId="{5FB27A4D-074C-440E-A677-9A31C9E84CCF}"/>
    <dgm:cxn modelId="{D7AB4221-377C-42B5-B882-31E9F6E49CE2}" type="presOf" srcId="{1727D2AF-76DF-4292-931D-8AB2E2E079E0}" destId="{CAC65AE1-ECDD-4045-B7BD-D7F59BB5E268}" srcOrd="0" destOrd="0" presId="urn:microsoft.com/office/officeart/2005/8/layout/default"/>
    <dgm:cxn modelId="{609DEA37-A4FB-43F6-A04C-5F9B5DCFEC23}" type="presOf" srcId="{2E5F3666-6A9D-419D-8591-D7191A7FBB69}" destId="{E5652E7F-3AC3-4E73-A00E-B63D4FE7A95A}" srcOrd="0" destOrd="0" presId="urn:microsoft.com/office/officeart/2005/8/layout/default"/>
    <dgm:cxn modelId="{1165753D-AFFF-4C2D-ADEB-BCF6A9F6D3FD}" srcId="{2E5F3666-6A9D-419D-8591-D7191A7FBB69}" destId="{86BD9EE3-4805-4809-8603-845C435A255E}" srcOrd="4" destOrd="0" parTransId="{0BC25A5E-AFF7-4AB7-A13F-10F5AA1F061E}" sibTransId="{7C24E90A-CFC9-42B9-AE0E-FBE7A3784FB6}"/>
    <dgm:cxn modelId="{46BB3C65-7F7A-4E9B-AEA9-30F9D8BCB12A}" type="presOf" srcId="{2C7CD253-B454-4B92-888A-935B42A5D9B8}" destId="{0EAAB594-81E9-4C50-8BAB-BB0919AA0F68}" srcOrd="0" destOrd="0" presId="urn:microsoft.com/office/officeart/2005/8/layout/default"/>
    <dgm:cxn modelId="{A218E749-1EBC-4F90-B747-A4FF40EE50AC}" srcId="{2E5F3666-6A9D-419D-8591-D7191A7FBB69}" destId="{3BB7D7AC-4CD1-4A0E-9262-0C8D93708A49}" srcOrd="3" destOrd="0" parTransId="{A00C4F22-724D-42A1-885A-28969D632ED5}" sibTransId="{4463D1A6-197A-4453-BC0F-EDB98CB04328}"/>
    <dgm:cxn modelId="{1778274D-79D5-4686-AA67-4620226A5765}" srcId="{2E5F3666-6A9D-419D-8591-D7191A7FBB69}" destId="{2C7CD253-B454-4B92-888A-935B42A5D9B8}" srcOrd="6" destOrd="0" parTransId="{63594324-0900-407D-B288-F12781354065}" sibTransId="{5E7E862B-45F6-46C1-9527-7021C65EECE2}"/>
    <dgm:cxn modelId="{593B807D-837E-4584-B89E-BA04415A7D2E}" type="presOf" srcId="{723650F9-5A0D-4F4A-BC4E-CD849A272642}" destId="{A841828D-32FF-42B0-83CE-C43B84BF9935}" srcOrd="0" destOrd="0" presId="urn:microsoft.com/office/officeart/2005/8/layout/default"/>
    <dgm:cxn modelId="{934CDE7E-C5D9-489F-AAAC-1482FB71E4C8}" type="presOf" srcId="{86BD9EE3-4805-4809-8603-845C435A255E}" destId="{21D1E85D-3BC1-407E-845A-8B77632F5638}" srcOrd="0" destOrd="0" presId="urn:microsoft.com/office/officeart/2005/8/layout/default"/>
    <dgm:cxn modelId="{1F252F8F-176F-4889-AEA6-E4EEAE1FA1B1}" srcId="{2E5F3666-6A9D-419D-8591-D7191A7FBB69}" destId="{723650F9-5A0D-4F4A-BC4E-CD849A272642}" srcOrd="0" destOrd="0" parTransId="{F87B5EC7-0A3D-4DD0-9065-2273F54DCF75}" sibTransId="{90F71B39-D84E-47B9-AF95-B2391A2DE936}"/>
    <dgm:cxn modelId="{5B8A7F95-8530-457E-988A-48EA53562EA0}" srcId="{2E5F3666-6A9D-419D-8591-D7191A7FBB69}" destId="{00180539-F6A5-461F-B845-2B0C4A15C9B9}" srcOrd="8" destOrd="0" parTransId="{20E5F106-B596-44A7-A447-346278EC1A33}" sibTransId="{C5BE9152-AF0C-4C5D-86CE-C659F0506423}"/>
    <dgm:cxn modelId="{0327FBA8-5E90-4AE2-B8CC-BB4D78CF56D6}" type="presOf" srcId="{1610D19F-7E2D-4650-874C-9D30AC7ABC85}" destId="{D5DAB3F6-9DBA-4D73-AB4D-3305C0B5CCDE}" srcOrd="0" destOrd="0" presId="urn:microsoft.com/office/officeart/2005/8/layout/default"/>
    <dgm:cxn modelId="{8ED513A9-C465-4D58-BE44-092EA481BCF3}" srcId="{2E5F3666-6A9D-419D-8591-D7191A7FBB69}" destId="{1610D19F-7E2D-4650-874C-9D30AC7ABC85}" srcOrd="5" destOrd="0" parTransId="{2C8D802D-B27A-441F-B44D-0A1F7DE2D211}" sibTransId="{A7487197-EB10-4C43-884B-B940C2C45114}"/>
    <dgm:cxn modelId="{B110D0BA-76D1-4BA1-81B5-7E5657186FE7}" type="presOf" srcId="{A8DFFB8C-FF6C-4BA3-81B1-38FA28FC5C53}" destId="{A2222809-5A06-44E8-8861-5ECFC74459EC}" srcOrd="0" destOrd="0" presId="urn:microsoft.com/office/officeart/2005/8/layout/default"/>
    <dgm:cxn modelId="{DEB37FBD-9DC0-4132-BD74-C172A23C4808}" srcId="{2E5F3666-6A9D-419D-8591-D7191A7FBB69}" destId="{1727D2AF-76DF-4292-931D-8AB2E2E079E0}" srcOrd="9" destOrd="0" parTransId="{9A3E713E-CA6D-4670-A8B4-77F66712BE42}" sibTransId="{E223A499-F700-4916-9569-CDD24131ADFA}"/>
    <dgm:cxn modelId="{C5B9DACC-5754-4EC0-8B9F-5DA94EA97408}" srcId="{2E5F3666-6A9D-419D-8591-D7191A7FBB69}" destId="{DAAFB711-B31F-4495-94D2-C70E6176D99E}" srcOrd="2" destOrd="0" parTransId="{9F61A19B-F062-4ECD-A141-4BD69C1E4155}" sibTransId="{DFEABBFE-40F2-4259-94A6-1B36E25915D8}"/>
    <dgm:cxn modelId="{5D1591CE-3EA3-4277-BF11-F343BC9FC3EA}" type="presOf" srcId="{DAAFB711-B31F-4495-94D2-C70E6176D99E}" destId="{362E9129-ED07-4211-904A-D909F78BDA6C}" srcOrd="0" destOrd="0" presId="urn:microsoft.com/office/officeart/2005/8/layout/default"/>
    <dgm:cxn modelId="{E3A3EED1-1733-4503-A313-E6CA96F1E6AE}" type="presOf" srcId="{00180539-F6A5-461F-B845-2B0C4A15C9B9}" destId="{602FEE6D-23DB-4664-AD99-4796C1B6F696}" srcOrd="0" destOrd="0" presId="urn:microsoft.com/office/officeart/2005/8/layout/default"/>
    <dgm:cxn modelId="{88BC64FC-CF54-47F9-9795-0B8A0E6E9F20}" type="presOf" srcId="{3BB7D7AC-4CD1-4A0E-9262-0C8D93708A49}" destId="{8090F664-6F18-414B-8024-87F0932AB8AB}" srcOrd="0" destOrd="0" presId="urn:microsoft.com/office/officeart/2005/8/layout/default"/>
    <dgm:cxn modelId="{F60C4AB0-E269-4AD1-9BF2-7F8B03C4AEB5}" type="presParOf" srcId="{E5652E7F-3AC3-4E73-A00E-B63D4FE7A95A}" destId="{A841828D-32FF-42B0-83CE-C43B84BF9935}" srcOrd="0" destOrd="0" presId="urn:microsoft.com/office/officeart/2005/8/layout/default"/>
    <dgm:cxn modelId="{CEA8A14B-D17A-4916-90BE-F3EC9857F680}" type="presParOf" srcId="{E5652E7F-3AC3-4E73-A00E-B63D4FE7A95A}" destId="{8A8DC6A8-EB7E-4E27-8BD3-D96B490BEE2B}" srcOrd="1" destOrd="0" presId="urn:microsoft.com/office/officeart/2005/8/layout/default"/>
    <dgm:cxn modelId="{715ADB13-5956-4669-BC89-CE9D0ADC3DDD}" type="presParOf" srcId="{E5652E7F-3AC3-4E73-A00E-B63D4FE7A95A}" destId="{A2222809-5A06-44E8-8861-5ECFC74459EC}" srcOrd="2" destOrd="0" presId="urn:microsoft.com/office/officeart/2005/8/layout/default"/>
    <dgm:cxn modelId="{9B9BFE6C-F33D-4B27-B7A6-37166183FB34}" type="presParOf" srcId="{E5652E7F-3AC3-4E73-A00E-B63D4FE7A95A}" destId="{1561D882-C664-4EC4-A9E1-602EE17AECA8}" srcOrd="3" destOrd="0" presId="urn:microsoft.com/office/officeart/2005/8/layout/default"/>
    <dgm:cxn modelId="{6765985F-2967-4A20-90E6-3905F85EA3E1}" type="presParOf" srcId="{E5652E7F-3AC3-4E73-A00E-B63D4FE7A95A}" destId="{362E9129-ED07-4211-904A-D909F78BDA6C}" srcOrd="4" destOrd="0" presId="urn:microsoft.com/office/officeart/2005/8/layout/default"/>
    <dgm:cxn modelId="{1AA7D840-EA53-4B16-BE28-587AC5E4A21F}" type="presParOf" srcId="{E5652E7F-3AC3-4E73-A00E-B63D4FE7A95A}" destId="{6E6A98A8-784A-4511-8E60-9F7FDE5E1E77}" srcOrd="5" destOrd="0" presId="urn:microsoft.com/office/officeart/2005/8/layout/default"/>
    <dgm:cxn modelId="{39AF91F8-FB81-4FD5-9999-4E80CC9C52ED}" type="presParOf" srcId="{E5652E7F-3AC3-4E73-A00E-B63D4FE7A95A}" destId="{8090F664-6F18-414B-8024-87F0932AB8AB}" srcOrd="6" destOrd="0" presId="urn:microsoft.com/office/officeart/2005/8/layout/default"/>
    <dgm:cxn modelId="{697B4C21-A179-4525-A8B2-548826C664C4}" type="presParOf" srcId="{E5652E7F-3AC3-4E73-A00E-B63D4FE7A95A}" destId="{D0A416DA-EA84-41D3-AD32-B8E371110FF2}" srcOrd="7" destOrd="0" presId="urn:microsoft.com/office/officeart/2005/8/layout/default"/>
    <dgm:cxn modelId="{5B7B1726-07C6-424E-B041-CBB6E9EF7EFE}" type="presParOf" srcId="{E5652E7F-3AC3-4E73-A00E-B63D4FE7A95A}" destId="{21D1E85D-3BC1-407E-845A-8B77632F5638}" srcOrd="8" destOrd="0" presId="urn:microsoft.com/office/officeart/2005/8/layout/default"/>
    <dgm:cxn modelId="{77917F61-CF3E-4BDC-B13B-7DBDEAFB45CC}" type="presParOf" srcId="{E5652E7F-3AC3-4E73-A00E-B63D4FE7A95A}" destId="{46C834F5-70FF-4007-A0EC-AD194C745B0E}" srcOrd="9" destOrd="0" presId="urn:microsoft.com/office/officeart/2005/8/layout/default"/>
    <dgm:cxn modelId="{A237FCBC-7110-4B5D-912C-4B565D3C7E1A}" type="presParOf" srcId="{E5652E7F-3AC3-4E73-A00E-B63D4FE7A95A}" destId="{D5DAB3F6-9DBA-4D73-AB4D-3305C0B5CCDE}" srcOrd="10" destOrd="0" presId="urn:microsoft.com/office/officeart/2005/8/layout/default"/>
    <dgm:cxn modelId="{E2C684DA-528E-413B-B1C4-A5C090B9841E}" type="presParOf" srcId="{E5652E7F-3AC3-4E73-A00E-B63D4FE7A95A}" destId="{EF937B95-3CB6-4FD7-89B6-91A072FDADF7}" srcOrd="11" destOrd="0" presId="urn:microsoft.com/office/officeart/2005/8/layout/default"/>
    <dgm:cxn modelId="{23468D49-1932-4D56-8846-7555A524E05F}" type="presParOf" srcId="{E5652E7F-3AC3-4E73-A00E-B63D4FE7A95A}" destId="{0EAAB594-81E9-4C50-8BAB-BB0919AA0F68}" srcOrd="12" destOrd="0" presId="urn:microsoft.com/office/officeart/2005/8/layout/default"/>
    <dgm:cxn modelId="{AF3C358F-8C8C-405F-9DFA-381E52278DC8}" type="presParOf" srcId="{E5652E7F-3AC3-4E73-A00E-B63D4FE7A95A}" destId="{E9C333D9-02E3-45AB-A1EA-C0CB9274715F}" srcOrd="13" destOrd="0" presId="urn:microsoft.com/office/officeart/2005/8/layout/default"/>
    <dgm:cxn modelId="{28DE79AF-5535-4CF7-B798-E35CFE67825F}" type="presParOf" srcId="{E5652E7F-3AC3-4E73-A00E-B63D4FE7A95A}" destId="{ACEE4233-ADB8-48BC-9387-9FE0D7E1F05D}" srcOrd="14" destOrd="0" presId="urn:microsoft.com/office/officeart/2005/8/layout/default"/>
    <dgm:cxn modelId="{9740E4C3-A455-4751-ABA0-CD9CB577E5F9}" type="presParOf" srcId="{E5652E7F-3AC3-4E73-A00E-B63D4FE7A95A}" destId="{F8A5B80D-9A96-48F8-8C1E-564A2DDF2702}" srcOrd="15" destOrd="0" presId="urn:microsoft.com/office/officeart/2005/8/layout/default"/>
    <dgm:cxn modelId="{A61416F3-AE92-4FB6-8D90-32E1905B6FB4}" type="presParOf" srcId="{E5652E7F-3AC3-4E73-A00E-B63D4FE7A95A}" destId="{602FEE6D-23DB-4664-AD99-4796C1B6F696}" srcOrd="16" destOrd="0" presId="urn:microsoft.com/office/officeart/2005/8/layout/default"/>
    <dgm:cxn modelId="{4D6CDD94-7746-448B-8BD2-FE8C02A0363D}" type="presParOf" srcId="{E5652E7F-3AC3-4E73-A00E-B63D4FE7A95A}" destId="{B2052547-7B3B-4108-ADF3-451B6F3A8759}" srcOrd="17" destOrd="0" presId="urn:microsoft.com/office/officeart/2005/8/layout/default"/>
    <dgm:cxn modelId="{6DBB9150-5605-4F96-AAF9-C800E5C8C5E5}" type="presParOf" srcId="{E5652E7F-3AC3-4E73-A00E-B63D4FE7A95A}" destId="{CAC65AE1-ECDD-4045-B7BD-D7F59BB5E268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41828D-32FF-42B0-83CE-C43B84BF9935}">
      <dsp:nvSpPr>
        <dsp:cNvPr id="0" name=""/>
        <dsp:cNvSpPr/>
      </dsp:nvSpPr>
      <dsp:spPr>
        <a:xfrm>
          <a:off x="1974" y="260318"/>
          <a:ext cx="1566651" cy="93999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>
              <a:ea typeface="+mn-ea"/>
              <a:cs typeface="+mn-cs"/>
            </a:rPr>
            <a:t>Dataset</a:t>
          </a:r>
          <a:r>
            <a:rPr lang="en-US" sz="2000" kern="1200" dirty="0">
              <a:ea typeface="+mn-ea"/>
              <a:cs typeface="+mn-cs"/>
            </a:rPr>
            <a:t> Overview</a:t>
          </a:r>
        </a:p>
      </dsp:txBody>
      <dsp:txXfrm>
        <a:off x="1974" y="260318"/>
        <a:ext cx="1566651" cy="939991"/>
      </dsp:txXfrm>
    </dsp:sp>
    <dsp:sp modelId="{A2222809-5A06-44E8-8861-5ECFC74459EC}">
      <dsp:nvSpPr>
        <dsp:cNvPr id="0" name=""/>
        <dsp:cNvSpPr/>
      </dsp:nvSpPr>
      <dsp:spPr>
        <a:xfrm>
          <a:off x="1725291" y="260318"/>
          <a:ext cx="1566651" cy="939991"/>
        </a:xfrm>
        <a:prstGeom prst="rect">
          <a:avLst/>
        </a:prstGeom>
        <a:solidFill>
          <a:schemeClr val="accent5">
            <a:hueOff val="534237"/>
            <a:satOff val="-1085"/>
            <a:lumOff val="69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Data Cleaning</a:t>
          </a:r>
        </a:p>
      </dsp:txBody>
      <dsp:txXfrm>
        <a:off x="1725291" y="260318"/>
        <a:ext cx="1566651" cy="939991"/>
      </dsp:txXfrm>
    </dsp:sp>
    <dsp:sp modelId="{362E9129-ED07-4211-904A-D909F78BDA6C}">
      <dsp:nvSpPr>
        <dsp:cNvPr id="0" name=""/>
        <dsp:cNvSpPr/>
      </dsp:nvSpPr>
      <dsp:spPr>
        <a:xfrm>
          <a:off x="3448609" y="260318"/>
          <a:ext cx="1566651" cy="939991"/>
        </a:xfrm>
        <a:prstGeom prst="rect">
          <a:avLst/>
        </a:prstGeom>
        <a:solidFill>
          <a:schemeClr val="accent5">
            <a:hueOff val="1068474"/>
            <a:satOff val="-2170"/>
            <a:lumOff val="139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Descriptive Statistics</a:t>
          </a:r>
        </a:p>
      </dsp:txBody>
      <dsp:txXfrm>
        <a:off x="3448609" y="260318"/>
        <a:ext cx="1566651" cy="939991"/>
      </dsp:txXfrm>
    </dsp:sp>
    <dsp:sp modelId="{8090F664-6F18-414B-8024-87F0932AB8AB}">
      <dsp:nvSpPr>
        <dsp:cNvPr id="0" name=""/>
        <dsp:cNvSpPr/>
      </dsp:nvSpPr>
      <dsp:spPr>
        <a:xfrm>
          <a:off x="5171926" y="260318"/>
          <a:ext cx="1566651" cy="939991"/>
        </a:xfrm>
        <a:prstGeom prst="rect">
          <a:avLst/>
        </a:prstGeom>
        <a:solidFill>
          <a:schemeClr val="accent5">
            <a:hueOff val="1602711"/>
            <a:satOff val="-3255"/>
            <a:lumOff val="209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Key Visualizations</a:t>
          </a:r>
        </a:p>
      </dsp:txBody>
      <dsp:txXfrm>
        <a:off x="5171926" y="260318"/>
        <a:ext cx="1566651" cy="939991"/>
      </dsp:txXfrm>
    </dsp:sp>
    <dsp:sp modelId="{21D1E85D-3BC1-407E-845A-8B77632F5638}">
      <dsp:nvSpPr>
        <dsp:cNvPr id="0" name=""/>
        <dsp:cNvSpPr/>
      </dsp:nvSpPr>
      <dsp:spPr>
        <a:xfrm>
          <a:off x="1974" y="1356974"/>
          <a:ext cx="1566651" cy="939991"/>
        </a:xfrm>
        <a:prstGeom prst="rect">
          <a:avLst/>
        </a:prstGeom>
        <a:solidFill>
          <a:schemeClr val="accent5">
            <a:hueOff val="2136948"/>
            <a:satOff val="-4340"/>
            <a:lumOff val="278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Hypothesis Testing</a:t>
          </a:r>
        </a:p>
      </dsp:txBody>
      <dsp:txXfrm>
        <a:off x="1974" y="1356974"/>
        <a:ext cx="1566651" cy="939991"/>
      </dsp:txXfrm>
    </dsp:sp>
    <dsp:sp modelId="{D5DAB3F6-9DBA-4D73-AB4D-3305C0B5CCDE}">
      <dsp:nvSpPr>
        <dsp:cNvPr id="0" name=""/>
        <dsp:cNvSpPr/>
      </dsp:nvSpPr>
      <dsp:spPr>
        <a:xfrm>
          <a:off x="1725291" y="1356974"/>
          <a:ext cx="1566651" cy="939991"/>
        </a:xfrm>
        <a:prstGeom prst="rect">
          <a:avLst/>
        </a:prstGeom>
        <a:solidFill>
          <a:schemeClr val="accent5">
            <a:hueOff val="2671185"/>
            <a:satOff val="-5424"/>
            <a:lumOff val="348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Machine Learning Models</a:t>
          </a:r>
        </a:p>
      </dsp:txBody>
      <dsp:txXfrm>
        <a:off x="1725291" y="1356974"/>
        <a:ext cx="1566651" cy="939991"/>
      </dsp:txXfrm>
    </dsp:sp>
    <dsp:sp modelId="{0EAAB594-81E9-4C50-8BAB-BB0919AA0F68}">
      <dsp:nvSpPr>
        <dsp:cNvPr id="0" name=""/>
        <dsp:cNvSpPr/>
      </dsp:nvSpPr>
      <dsp:spPr>
        <a:xfrm>
          <a:off x="3448609" y="1356974"/>
          <a:ext cx="1566651" cy="939991"/>
        </a:xfrm>
        <a:prstGeom prst="rect">
          <a:avLst/>
        </a:prstGeom>
        <a:solidFill>
          <a:schemeClr val="accent5">
            <a:hueOff val="3205422"/>
            <a:satOff val="-6509"/>
            <a:lumOff val="4183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Model Performance</a:t>
          </a:r>
        </a:p>
      </dsp:txBody>
      <dsp:txXfrm>
        <a:off x="3448609" y="1356974"/>
        <a:ext cx="1566651" cy="939991"/>
      </dsp:txXfrm>
    </dsp:sp>
    <dsp:sp modelId="{ACEE4233-ADB8-48BC-9387-9FE0D7E1F05D}">
      <dsp:nvSpPr>
        <dsp:cNvPr id="0" name=""/>
        <dsp:cNvSpPr/>
      </dsp:nvSpPr>
      <dsp:spPr>
        <a:xfrm>
          <a:off x="5171926" y="1356974"/>
          <a:ext cx="1566651" cy="939991"/>
        </a:xfrm>
        <a:prstGeom prst="rect">
          <a:avLst/>
        </a:prstGeom>
        <a:solidFill>
          <a:schemeClr val="accent5">
            <a:hueOff val="3739659"/>
            <a:satOff val="-7594"/>
            <a:lumOff val="488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Business Recommendations</a:t>
          </a:r>
        </a:p>
      </dsp:txBody>
      <dsp:txXfrm>
        <a:off x="5171926" y="1356974"/>
        <a:ext cx="1566651" cy="939991"/>
      </dsp:txXfrm>
    </dsp:sp>
    <dsp:sp modelId="{602FEE6D-23DB-4664-AD99-4796C1B6F696}">
      <dsp:nvSpPr>
        <dsp:cNvPr id="0" name=""/>
        <dsp:cNvSpPr/>
      </dsp:nvSpPr>
      <dsp:spPr>
        <a:xfrm>
          <a:off x="1725291" y="2453631"/>
          <a:ext cx="1566651" cy="939991"/>
        </a:xfrm>
        <a:prstGeom prst="rect">
          <a:avLst/>
        </a:prstGeom>
        <a:solidFill>
          <a:schemeClr val="accent5">
            <a:hueOff val="4273896"/>
            <a:satOff val="-8679"/>
            <a:lumOff val="5578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GitHub &amp; Version Control</a:t>
          </a:r>
        </a:p>
      </dsp:txBody>
      <dsp:txXfrm>
        <a:off x="1725291" y="2453631"/>
        <a:ext cx="1566651" cy="939991"/>
      </dsp:txXfrm>
    </dsp:sp>
    <dsp:sp modelId="{CAC65AE1-ECDD-4045-B7BD-D7F59BB5E268}">
      <dsp:nvSpPr>
        <dsp:cNvPr id="0" name=""/>
        <dsp:cNvSpPr/>
      </dsp:nvSpPr>
      <dsp:spPr>
        <a:xfrm>
          <a:off x="3448609" y="2453631"/>
          <a:ext cx="1566651" cy="939991"/>
        </a:xfrm>
        <a:prstGeom prst="rect">
          <a:avLst/>
        </a:prstGeom>
        <a:solidFill>
          <a:schemeClr val="accent5">
            <a:hueOff val="4808133"/>
            <a:satOff val="-9764"/>
            <a:lumOff val="627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ea typeface="+mn-ea"/>
              <a:cs typeface="+mn-cs"/>
            </a:rPr>
            <a:t>Q&amp;A</a:t>
          </a:r>
        </a:p>
      </dsp:txBody>
      <dsp:txXfrm>
        <a:off x="3448609" y="2453631"/>
        <a:ext cx="1566651" cy="9399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A977F-2504-E741-85B4-8F01994E1F25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043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A02F-357D-AF42-B110-A7740AFDCA1B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048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9B27-4D02-2940-AED5-BC8F2B3B1507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04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7878-2C98-7449-BB8F-764A5EA8E558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545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F403-9584-1749-B6AB-5E1C5F94527C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743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8C0351-EB03-5444-BA93-B7E778374E24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0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ADB90-FF7E-5041-AB9F-1BC0957AB829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77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B8CB6-48D8-4E47-B0D3-B56230F429D0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068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716D3-DCE8-CC45-8106-AE5DFCD073F9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34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351F-53B1-3B4C-8CD4-15B0457E8E3F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003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E8F6-4F69-E448-82E4-3FF8C30628E4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719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BAD4-EC93-8B4C-97AE-9AB5F3271B19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940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050E-E079-6441-81E7-806D30677343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9402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230AF-FFB7-DE42-B481-AAC2589869DA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9115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A7C16-FAF2-2C41-B697-563997C522AD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53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9D9EA-0687-604F-B97A-763B6765DF9F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66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88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>
                    <a:lumMod val="75000"/>
                  </a:schemeClr>
                </a:solidFill>
              </a:rPr>
              <a:t>Title Slide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7" name="Content Placeholder 2"/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Coffee Shop Sales Analysis</a:t>
            </a:r>
            <a:endParaRPr lang="en-US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HCT - CIS 2423 Final Group Project</a:t>
            </a:r>
            <a:endParaRPr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endParaRPr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Course: Programming for Data Science</a:t>
            </a:r>
            <a:endParaRPr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Semester: 202510 </a:t>
            </a:r>
            <a:endParaRPr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>
                <a:solidFill>
                  <a:schemeClr val="tx2">
                    <a:lumMod val="75000"/>
                  </a:schemeClr>
                </a:solidFill>
              </a:rPr>
              <a:t>Submitted by:</a:t>
            </a:r>
            <a:endParaRPr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>
                <a:solidFill>
                  <a:schemeClr val="tx2">
                    <a:lumMod val="75000"/>
                  </a:schemeClr>
                </a:solidFill>
              </a:rPr>
              <a:t>Name – HCT ID: </a:t>
            </a:r>
            <a:endParaRPr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GitHub: </a:t>
            </a:r>
            <a:endParaRPr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dirty="0">
                <a:solidFill>
                  <a:schemeClr val="tx2">
                    <a:lumMod val="75000"/>
                  </a:schemeClr>
                </a:solidFill>
              </a:rPr>
              <a:t>Date: </a:t>
            </a:r>
            <a:endParaRPr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endParaRPr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175CD74B-9CE8-4F20-A3E4-A22A7F0360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6172" y="624110"/>
            <a:ext cx="7284749" cy="1280890"/>
          </a:xfrm>
        </p:spPr>
        <p:txBody>
          <a:bodyPr>
            <a:normAutofit/>
          </a:bodyPr>
          <a:lstStyle/>
          <a:p>
            <a:r>
              <a:rPr lang="en-GB" dirty="0"/>
              <a:t>Agenda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9C44665-BECF-4482-A00C-E4BE2A87D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3" name="Freeform 11">
            <a:extLst>
              <a:ext uri="{FF2B5EF4-FFF2-40B4-BE49-F238E27FC236}">
                <a16:creationId xmlns:a16="http://schemas.microsoft.com/office/drawing/2014/main" id="{20398C1D-D011-4BA8-AC81-E829677B8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C09078-7C51-D149-555A-604DDBFF40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738783"/>
              </p:ext>
            </p:extLst>
          </p:nvPr>
        </p:nvGraphicFramePr>
        <p:xfrm>
          <a:off x="1346172" y="2222983"/>
          <a:ext cx="6740553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416" y="1059872"/>
            <a:ext cx="2259162" cy="4851349"/>
          </a:xfrm>
        </p:spPr>
        <p:txBody>
          <a:bodyPr>
            <a:normAutofit/>
          </a:bodyPr>
          <a:lstStyle/>
          <a:p>
            <a:r>
              <a:rPr lang="en-GB"/>
              <a:t>Dataset Overviw</a:t>
            </a:r>
          </a:p>
        </p:txBody>
      </p:sp>
      <p:sp>
        <p:nvSpPr>
          <p:cNvPr id="135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1149203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8" name="Content Placeholder 127">
            <a:extLst>
              <a:ext uri="{FF2B5EF4-FFF2-40B4-BE49-F238E27FC236}">
                <a16:creationId xmlns:a16="http://schemas.microsoft.com/office/drawing/2014/main" id="{68E7D3EE-53ED-5B2F-99B1-17B9B27F1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3143" y="1086298"/>
            <a:ext cx="5500656" cy="555168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Dataset: Coffee Sale PROJECT.csv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Total Rows: 3,547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Columns: 11 → 12 after cleaning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Key Vars: price, </a:t>
            </a:r>
            <a:r>
              <a:rPr lang="en-US" sz="2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coffee_name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 </a:t>
            </a:r>
            <a:r>
              <a:rPr lang="en-US" sz="2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Time_of_Day,hour</a:t>
            </a:r>
            <a:endParaRPr lang="en-US" sz="24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Source: Internal sales system</a:t>
            </a:r>
          </a:p>
          <a:p>
            <a:pPr>
              <a:spcBef>
                <a:spcPct val="20000"/>
              </a:spcBef>
            </a:pPr>
            <a:endParaRPr lang="en-US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Data Types:</a:t>
            </a:r>
          </a:p>
          <a:p>
            <a:pPr>
              <a:spcBef>
                <a:spcPct val="20000"/>
              </a:spcBef>
            </a:pP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price: Numeric</a:t>
            </a:r>
          </a:p>
          <a:p>
            <a:pPr>
              <a:spcBef>
                <a:spcPct val="20000"/>
              </a:spcBef>
            </a:pPr>
            <a:r>
              <a:rPr lang="en-US" sz="2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coffee_name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Categorical</a:t>
            </a:r>
          </a:p>
          <a:p>
            <a:pPr>
              <a:spcBef>
                <a:spcPct val="20000"/>
              </a:spcBef>
            </a:pPr>
            <a:r>
              <a:rPr lang="en-US" sz="24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Time_of_Day</a:t>
            </a:r>
            <a:r>
              <a:rPr lang="en-US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Ordinal</a:t>
            </a:r>
          </a:p>
          <a:p>
            <a:pPr marL="0" indent="0">
              <a:spcBef>
                <a:spcPct val="20000"/>
              </a:spcBef>
              <a:buNone/>
            </a:pPr>
            <a:endParaRPr lang="en-US" sz="24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GB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259C671B-1B22-4141-A9C0-2E7941FDA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7B2F5A4B-FA0F-4625-82F7-1D3F11281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3" name="Freeform 12">
              <a:extLst>
                <a:ext uri="{FF2B5EF4-FFF2-40B4-BE49-F238E27FC236}">
                  <a16:creationId xmlns:a16="http://schemas.microsoft.com/office/drawing/2014/main" id="{9ACB0BAE-722F-4C91-8C2A-44EF768E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C3AC4D9F-59AC-421A-9FF3-C936CEC439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4" name="Freeform 14">
              <a:extLst>
                <a:ext uri="{FF2B5EF4-FFF2-40B4-BE49-F238E27FC236}">
                  <a16:creationId xmlns:a16="http://schemas.microsoft.com/office/drawing/2014/main" id="{797BCE03-677D-4D65-A4D1-1FD721DD5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D007E5D0-0B4E-4094-988C-9917146C2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5" name="Freeform 16">
              <a:extLst>
                <a:ext uri="{FF2B5EF4-FFF2-40B4-BE49-F238E27FC236}">
                  <a16:creationId xmlns:a16="http://schemas.microsoft.com/office/drawing/2014/main" id="{024DB804-C06B-4A0A-AC43-6BCCB7D7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B51DC17A-305E-486E-A527-5E8068E9E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6" name="Freeform 18">
              <a:extLst>
                <a:ext uri="{FF2B5EF4-FFF2-40B4-BE49-F238E27FC236}">
                  <a16:creationId xmlns:a16="http://schemas.microsoft.com/office/drawing/2014/main" id="{B6CCA716-6D46-4523-BF96-FF1B0C546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E632B09A-D30C-4268-B28B-ACD612763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7" name="Freeform 20">
              <a:extLst>
                <a:ext uri="{FF2B5EF4-FFF2-40B4-BE49-F238E27FC236}">
                  <a16:creationId xmlns:a16="http://schemas.microsoft.com/office/drawing/2014/main" id="{5FC839A4-228B-4EC0-8AF4-D8E38ECE6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A8FFB1A1-5BB5-4551-87CD-F3365E6FE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D05AF173-8E70-41FA-9254-DF9AC3DDA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1D56A4CE-A3F4-4CFF-9A65-C029AC17B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DF669161-0B30-4C76-96BF-962027487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A5232353-CF7C-44DD-8BEE-1C8FF54CD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0" name="Freeform 29">
              <a:extLst>
                <a:ext uri="{FF2B5EF4-FFF2-40B4-BE49-F238E27FC236}">
                  <a16:creationId xmlns:a16="http://schemas.microsoft.com/office/drawing/2014/main" id="{AEA6CAE2-8741-4E88-A632-69C2B2EC5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014AC37D-4388-4AE6-9D4D-CCD99A608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1" name="Freeform 31">
              <a:extLst>
                <a:ext uri="{FF2B5EF4-FFF2-40B4-BE49-F238E27FC236}">
                  <a16:creationId xmlns:a16="http://schemas.microsoft.com/office/drawing/2014/main" id="{7FE084B0-333E-4F7C-83F1-F7D132527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FDCFCB98-2E3A-4227-823C-80489BB28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2" name="Freeform 33">
              <a:extLst>
                <a:ext uri="{FF2B5EF4-FFF2-40B4-BE49-F238E27FC236}">
                  <a16:creationId xmlns:a16="http://schemas.microsoft.com/office/drawing/2014/main" id="{252F94DE-A6A3-4463-BE05-34281F1C8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3" name="Freeform 34">
              <a:extLst>
                <a:ext uri="{FF2B5EF4-FFF2-40B4-BE49-F238E27FC236}">
                  <a16:creationId xmlns:a16="http://schemas.microsoft.com/office/drawing/2014/main" id="{16EA21FA-886F-43CF-9D44-C1342F305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4" name="Freeform 35">
              <a:extLst>
                <a:ext uri="{FF2B5EF4-FFF2-40B4-BE49-F238E27FC236}">
                  <a16:creationId xmlns:a16="http://schemas.microsoft.com/office/drawing/2014/main" id="{88C821A5-BCF7-47FE-894F-0ADC5FDB28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5" name="Freeform 36">
              <a:extLst>
                <a:ext uri="{FF2B5EF4-FFF2-40B4-BE49-F238E27FC236}">
                  <a16:creationId xmlns:a16="http://schemas.microsoft.com/office/drawing/2014/main" id="{F8337ECE-206A-472E-AFC4-0F230C91E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96" name="Freeform 37">
              <a:extLst>
                <a:ext uri="{FF2B5EF4-FFF2-40B4-BE49-F238E27FC236}">
                  <a16:creationId xmlns:a16="http://schemas.microsoft.com/office/drawing/2014/main" id="{90BB2EC4-D043-4B43-87E7-723A787EE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04013015-AF71-47BC-BE4D-ED9EFA24F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71B30B18-D920-4E3E-B931-1F310244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8" name="Freeform 11">
            <a:extLst>
              <a:ext uri="{FF2B5EF4-FFF2-40B4-BE49-F238E27FC236}">
                <a16:creationId xmlns:a16="http://schemas.microsoft.com/office/drawing/2014/main" id="{C70EF50A-66E6-460A-8AF9-47A10D0D9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01520B72-94C4-4ABB-AC64-A3382705B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9A64CBFD-D6E8-4E6A-8F66-1948BED331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alendar&#10;&#10;AI-generated content may be incorrect.">
            <a:extLst>
              <a:ext uri="{FF2B5EF4-FFF2-40B4-BE49-F238E27FC236}">
                <a16:creationId xmlns:a16="http://schemas.microsoft.com/office/drawing/2014/main" id="{8C6E11F3-264E-C661-C80E-6E4737B9C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30" y="2437321"/>
            <a:ext cx="8415636" cy="2621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97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GB" sz="2800">
                <a:solidFill>
                  <a:schemeClr val="bg1"/>
                </a:solidFill>
              </a:rPr>
              <a:t>Data Cleaning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6002" y="774716"/>
            <a:ext cx="5098525" cy="53215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dirty="0"/>
              <a:t>Data Cleaning Steps: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1. Convert Date → datetime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2. Extract hour from Time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3. Rename money → price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4. Remove duplicates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5. Remove outliers (&gt;99%)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6. Reset index</a:t>
            </a:r>
            <a:endParaRPr lang="en-GB" sz="2400" dirty="0">
              <a:ea typeface="Calibri"/>
              <a:cs typeface="Calibri"/>
            </a:endParaRPr>
          </a:p>
          <a:p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Final Shape: (3,547, 12)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Missing Values: 0</a:t>
            </a:r>
            <a:endParaRPr lang="en-GB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Descriptive Statistics</a:t>
            </a:r>
          </a:p>
        </p:txBody>
      </p:sp>
      <p:sp>
        <p:nvSpPr>
          <p:cNvPr id="46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2788" y="589722"/>
            <a:ext cx="5045670" cy="570470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2400" dirty="0"/>
              <a:t>Summary Stats (Price)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Count: 3547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Mean: 31.65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Median: 32.82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Std Dev: 4.88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Min–Max: 18.12–38.70</a:t>
            </a:r>
            <a:endParaRPr lang="en-GB" sz="2400" dirty="0">
              <a:ea typeface="Calibri"/>
              <a:cs typeface="Calibri"/>
            </a:endParaRPr>
          </a:p>
          <a:p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Top Coffee: Americano with Milk (809)</a:t>
            </a:r>
            <a:endParaRPr lang="en-GB" sz="2400" dirty="0">
              <a:ea typeface="Calibri"/>
              <a:cs typeface="Calibri"/>
            </a:endParaRPr>
          </a:p>
          <a:p>
            <a:endParaRPr lang="en-GB" sz="2400" dirty="0">
              <a:ea typeface="Calibri"/>
              <a:cs typeface="Calibri"/>
            </a:endParaRPr>
          </a:p>
          <a:p>
            <a:endParaRPr lang="en-GB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259C671B-1B22-4141-A9C0-2E7941FDA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" y="228600"/>
            <a:ext cx="2138628" cy="6638625"/>
            <a:chOff x="2487613" y="285750"/>
            <a:chExt cx="2428875" cy="5654676"/>
          </a:xfrm>
        </p:grpSpPr>
        <p:sp>
          <p:nvSpPr>
            <p:cNvPr id="91" name="Freeform 11">
              <a:extLst>
                <a:ext uri="{FF2B5EF4-FFF2-40B4-BE49-F238E27FC236}">
                  <a16:creationId xmlns:a16="http://schemas.microsoft.com/office/drawing/2014/main" id="{7B2F5A4B-FA0F-4625-82F7-1D3F11281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2" name="Freeform 12">
              <a:extLst>
                <a:ext uri="{FF2B5EF4-FFF2-40B4-BE49-F238E27FC236}">
                  <a16:creationId xmlns:a16="http://schemas.microsoft.com/office/drawing/2014/main" id="{9ACB0BAE-722F-4C91-8C2A-44EF768E83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C3AC4D9F-59AC-421A-9FF3-C936CEC439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797BCE03-677D-4D65-A4D1-1FD721DD5D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5" name="Freeform 15">
              <a:extLst>
                <a:ext uri="{FF2B5EF4-FFF2-40B4-BE49-F238E27FC236}">
                  <a16:creationId xmlns:a16="http://schemas.microsoft.com/office/drawing/2014/main" id="{D007E5D0-0B4E-4094-988C-9917146C2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024DB804-C06B-4A0A-AC43-6BCCB7D76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7" name="Freeform 17">
              <a:extLst>
                <a:ext uri="{FF2B5EF4-FFF2-40B4-BE49-F238E27FC236}">
                  <a16:creationId xmlns:a16="http://schemas.microsoft.com/office/drawing/2014/main" id="{B51DC17A-305E-486E-A527-5E8068E9E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8" name="Freeform 18">
              <a:extLst>
                <a:ext uri="{FF2B5EF4-FFF2-40B4-BE49-F238E27FC236}">
                  <a16:creationId xmlns:a16="http://schemas.microsoft.com/office/drawing/2014/main" id="{B6CCA716-6D46-4523-BF96-FF1B0C546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99" name="Freeform 19">
              <a:extLst>
                <a:ext uri="{FF2B5EF4-FFF2-40B4-BE49-F238E27FC236}">
                  <a16:creationId xmlns:a16="http://schemas.microsoft.com/office/drawing/2014/main" id="{E632B09A-D30C-4268-B28B-ACD6127630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0" name="Freeform 20">
              <a:extLst>
                <a:ext uri="{FF2B5EF4-FFF2-40B4-BE49-F238E27FC236}">
                  <a16:creationId xmlns:a16="http://schemas.microsoft.com/office/drawing/2014/main" id="{5FC839A4-228B-4EC0-8AF4-D8E38ECE6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1" name="Freeform 21">
              <a:extLst>
                <a:ext uri="{FF2B5EF4-FFF2-40B4-BE49-F238E27FC236}">
                  <a16:creationId xmlns:a16="http://schemas.microsoft.com/office/drawing/2014/main" id="{A8FFB1A1-5BB5-4551-87CD-F3365E6FE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2" name="Freeform 22">
              <a:extLst>
                <a:ext uri="{FF2B5EF4-FFF2-40B4-BE49-F238E27FC236}">
                  <a16:creationId xmlns:a16="http://schemas.microsoft.com/office/drawing/2014/main" id="{D05AF173-8E70-41FA-9254-DF9AC3DDA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1D56A4CE-A3F4-4CFF-9A65-C029AC17B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412" y="-786"/>
            <a:ext cx="1767505" cy="6854040"/>
            <a:chOff x="6627813" y="194833"/>
            <a:chExt cx="1952625" cy="5678918"/>
          </a:xfrm>
        </p:grpSpPr>
        <p:sp>
          <p:nvSpPr>
            <p:cNvPr id="105" name="Freeform 27">
              <a:extLst>
                <a:ext uri="{FF2B5EF4-FFF2-40B4-BE49-F238E27FC236}">
                  <a16:creationId xmlns:a16="http://schemas.microsoft.com/office/drawing/2014/main" id="{DF669161-0B30-4C76-96BF-962027487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6" name="Freeform 28">
              <a:extLst>
                <a:ext uri="{FF2B5EF4-FFF2-40B4-BE49-F238E27FC236}">
                  <a16:creationId xmlns:a16="http://schemas.microsoft.com/office/drawing/2014/main" id="{A5232353-CF7C-44DD-8BEE-1C8FF54CDD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7" name="Freeform 29">
              <a:extLst>
                <a:ext uri="{FF2B5EF4-FFF2-40B4-BE49-F238E27FC236}">
                  <a16:creationId xmlns:a16="http://schemas.microsoft.com/office/drawing/2014/main" id="{AEA6CAE2-8741-4E88-A632-69C2B2EC5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8" name="Freeform 30">
              <a:extLst>
                <a:ext uri="{FF2B5EF4-FFF2-40B4-BE49-F238E27FC236}">
                  <a16:creationId xmlns:a16="http://schemas.microsoft.com/office/drawing/2014/main" id="{014AC37D-4388-4AE6-9D4D-CCD99A608C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9" name="Freeform 31">
              <a:extLst>
                <a:ext uri="{FF2B5EF4-FFF2-40B4-BE49-F238E27FC236}">
                  <a16:creationId xmlns:a16="http://schemas.microsoft.com/office/drawing/2014/main" id="{7FE084B0-333E-4F7C-83F1-F7D132527D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0" name="Freeform 32">
              <a:extLst>
                <a:ext uri="{FF2B5EF4-FFF2-40B4-BE49-F238E27FC236}">
                  <a16:creationId xmlns:a16="http://schemas.microsoft.com/office/drawing/2014/main" id="{FDCFCB98-2E3A-4227-823C-80489BB28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1" name="Freeform 33">
              <a:extLst>
                <a:ext uri="{FF2B5EF4-FFF2-40B4-BE49-F238E27FC236}">
                  <a16:creationId xmlns:a16="http://schemas.microsoft.com/office/drawing/2014/main" id="{252F94DE-A6A3-4463-BE05-34281F1C8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2" name="Freeform 34">
              <a:extLst>
                <a:ext uri="{FF2B5EF4-FFF2-40B4-BE49-F238E27FC236}">
                  <a16:creationId xmlns:a16="http://schemas.microsoft.com/office/drawing/2014/main" id="{16EA21FA-886F-43CF-9D44-C1342F3055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3" name="Freeform 35">
              <a:extLst>
                <a:ext uri="{FF2B5EF4-FFF2-40B4-BE49-F238E27FC236}">
                  <a16:creationId xmlns:a16="http://schemas.microsoft.com/office/drawing/2014/main" id="{88C821A5-BCF7-47FE-894F-0ADC5FDB28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4" name="Freeform 36">
              <a:extLst>
                <a:ext uri="{FF2B5EF4-FFF2-40B4-BE49-F238E27FC236}">
                  <a16:creationId xmlns:a16="http://schemas.microsoft.com/office/drawing/2014/main" id="{F8337ECE-206A-472E-AFC4-0F230C91E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5" name="Freeform 37">
              <a:extLst>
                <a:ext uri="{FF2B5EF4-FFF2-40B4-BE49-F238E27FC236}">
                  <a16:creationId xmlns:a16="http://schemas.microsoft.com/office/drawing/2014/main" id="{90BB2EC4-D043-4B43-87E7-723A787EE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16" name="Freeform 38">
              <a:extLst>
                <a:ext uri="{FF2B5EF4-FFF2-40B4-BE49-F238E27FC236}">
                  <a16:creationId xmlns:a16="http://schemas.microsoft.com/office/drawing/2014/main" id="{04013015-AF71-47BC-BE4D-ED9EFA24FF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1B30B18-D920-4E3E-B931-1F310244C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0" name="Freeform 11">
            <a:extLst>
              <a:ext uri="{FF2B5EF4-FFF2-40B4-BE49-F238E27FC236}">
                <a16:creationId xmlns:a16="http://schemas.microsoft.com/office/drawing/2014/main" id="{C70EF50A-66E6-460A-8AF9-47A10D0D9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3141" y="714375"/>
            <a:ext cx="1191394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BDDE715-DC1D-4B19-9FCF-8B62FCE8E6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059D4B08-2FD7-4795-B867-90033141C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FEAB822-F0FD-4704-BB9F-0294145A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599" y="643468"/>
            <a:ext cx="8178800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A3FA35-989C-FBDC-CE75-9EB9BA8357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3" t="138" r="145" b="1130"/>
          <a:stretch>
            <a:fillRect/>
          </a:stretch>
        </p:blipFill>
        <p:spPr>
          <a:xfrm>
            <a:off x="1907096" y="652187"/>
            <a:ext cx="5046999" cy="555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022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751" y="624110"/>
            <a:ext cx="3102795" cy="1280890"/>
          </a:xfrm>
        </p:spPr>
        <p:txBody>
          <a:bodyPr>
            <a:normAutofit/>
          </a:bodyPr>
          <a:lstStyle/>
          <a:p>
            <a:r>
              <a:rPr lang="en-GB" sz="2800"/>
              <a:t>Chart 1 – Price vs Hour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2967" y="2133600"/>
            <a:ext cx="3105579" cy="377762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400" dirty="0">
                <a:solidFill>
                  <a:srgbClr val="000000"/>
                </a:solidFill>
              </a:rPr>
              <a:t>Chart: Price vs Hour (Scatter)</a:t>
            </a:r>
          </a:p>
          <a:p>
            <a:endParaRPr lang="en-GB" sz="2400" dirty="0">
              <a:solidFill>
                <a:srgbClr val="000000"/>
              </a:solidFill>
            </a:endParaRPr>
          </a:p>
          <a:p>
            <a:r>
              <a:rPr lang="en-GB" sz="2400" dirty="0">
                <a:solidFill>
                  <a:srgbClr val="000000"/>
                </a:solidFill>
              </a:rPr>
              <a:t>Prices rise after 18:00</a:t>
            </a:r>
            <a:endParaRPr lang="en-GB" sz="2400">
              <a:solidFill>
                <a:srgbClr val="000000"/>
              </a:solidFill>
              <a:ea typeface="Calibri"/>
              <a:cs typeface="Calibri"/>
            </a:endParaRPr>
          </a:p>
          <a:p>
            <a:r>
              <a:rPr lang="en-GB" sz="2400" dirty="0">
                <a:solidFill>
                  <a:srgbClr val="000000"/>
                </a:solidFill>
              </a:rPr>
              <a:t>Evening = premium pricing</a:t>
            </a:r>
          </a:p>
          <a:p>
            <a:endParaRPr lang="en-GB">
              <a:solidFill>
                <a:srgbClr val="000000"/>
              </a:solidFill>
            </a:endParaRPr>
          </a:p>
          <a:p>
            <a:endParaRPr lang="en-GB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26" name="Picture 25" descr="A chart of blue dots&#10;&#10;AI-generated content may be incorrect.">
            <a:extLst>
              <a:ext uri="{FF2B5EF4-FFF2-40B4-BE49-F238E27FC236}">
                <a16:creationId xmlns:a16="http://schemas.microsoft.com/office/drawing/2014/main" id="{80265E5F-5501-DD58-CE9D-EB6452A8B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730" y="1568411"/>
            <a:ext cx="4775840" cy="32822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3F4C104D-5F30-4811-9376-566B26E4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9144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785" y="645106"/>
            <a:ext cx="4304914" cy="812121"/>
          </a:xfrm>
        </p:spPr>
        <p:txBody>
          <a:bodyPr>
            <a:normAutofit/>
          </a:bodyPr>
          <a:lstStyle/>
          <a:p>
            <a:r>
              <a:rPr lang="en-GB" dirty="0"/>
              <a:t>Chart 2 – Boxplot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15E34B-5D02-4E01-A936-E8E1C0AB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001" y="2133600"/>
            <a:ext cx="3079430" cy="375925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400" dirty="0"/>
              <a:t>Chart: Price by Time of Day (Boxplot)</a:t>
            </a:r>
            <a:endParaRPr lang="en-GB" sz="2400" dirty="0">
              <a:ea typeface="Calibri"/>
              <a:cs typeface="Calibri"/>
            </a:endParaRPr>
          </a:p>
          <a:p>
            <a:endParaRPr lang="en-GB" sz="2400" dirty="0"/>
          </a:p>
          <a:p>
            <a:r>
              <a:rPr lang="en-GB" sz="2400" dirty="0"/>
              <a:t>Afternoon highest median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Morning lowest (discount zone)</a:t>
            </a:r>
            <a:endParaRPr lang="en-GB" sz="2400" dirty="0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02E45-08F3-E0F6-5087-466BB94BB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575" y="1471753"/>
            <a:ext cx="5615822" cy="4037200"/>
          </a:xfrm>
          <a:prstGeom prst="rect">
            <a:avLst/>
          </a:prstGeom>
        </p:spPr>
      </p:pic>
      <p:sp>
        <p:nvSpPr>
          <p:cNvPr id="8" name="Freeform 11">
            <a:extLst>
              <a:ext uri="{FF2B5EF4-FFF2-40B4-BE49-F238E27FC236}">
                <a16:creationId xmlns:a16="http://schemas.microsoft.com/office/drawing/2014/main" id="{7DE3414B-B032-4710-A468-D3285E38C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61223"/>
            <a:ext cx="77852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Hypothesis Testing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9933" y="589722"/>
            <a:ext cx="5098525" cy="53215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dirty="0"/>
              <a:t>Hypothesis Test: Morning vs Night Price</a:t>
            </a:r>
            <a:endParaRPr lang="en-GB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400" dirty="0"/>
          </a:p>
          <a:p>
            <a:r>
              <a:rPr lang="en-GB" sz="2400" dirty="0"/>
              <a:t>H₀: No difference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H₁: Difference exists</a:t>
            </a:r>
            <a:endParaRPr lang="en-GB" sz="2400" dirty="0">
              <a:ea typeface="Calibri"/>
              <a:cs typeface="Calibri"/>
            </a:endParaRPr>
          </a:p>
          <a:p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T-stat = -12.715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p = 0.000 → Reject H₀</a:t>
            </a:r>
            <a:endParaRPr lang="en-GB" sz="2400" dirty="0">
              <a:ea typeface="Calibri"/>
              <a:cs typeface="Calibri"/>
            </a:endParaRPr>
          </a:p>
          <a:p>
            <a:pPr marL="0" indent="0">
              <a:buNone/>
            </a:pP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Conclusion: Night &gt; Morning</a:t>
            </a:r>
            <a:endParaRPr lang="en-GB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GB" sz="2400">
                <a:solidFill>
                  <a:schemeClr val="bg1"/>
                </a:solidFill>
              </a:rPr>
              <a:t>Linear Regression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6001" y="589722"/>
            <a:ext cx="5547798" cy="53215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dirty="0"/>
              <a:t>Linear Regression (Predict Price)</a:t>
            </a:r>
            <a:endParaRPr lang="en-GB" sz="2400" dirty="0">
              <a:ea typeface="Calibri"/>
              <a:cs typeface="Calibri"/>
            </a:endParaRPr>
          </a:p>
          <a:p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R²: 0.216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Price = 28.62 + 0.82×coffee + 0.48×time - 0.00×hour</a:t>
            </a:r>
            <a:endParaRPr lang="en-GB" sz="2400" dirty="0">
              <a:ea typeface="Calibri"/>
              <a:cs typeface="Calibri"/>
            </a:endParaRPr>
          </a:p>
          <a:p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Time strongest effect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Add features for better R²</a:t>
            </a:r>
            <a:endParaRPr lang="en-GB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GB" sz="2000">
                <a:solidFill>
                  <a:schemeClr val="bg1"/>
                </a:solidFill>
              </a:rPr>
              <a:t>KNN Classification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6002" y="497225"/>
            <a:ext cx="5045670" cy="640503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GB" sz="2000" dirty="0"/>
              <a:t>KNN Classification</a:t>
            </a:r>
            <a:endParaRPr lang="en-GB" sz="20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2000" dirty="0"/>
              <a:t>Accuracy: 48.3%</a:t>
            </a:r>
            <a:endParaRPr lang="en-GB" sz="20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2000" dirty="0"/>
              <a:t>Top Classes recognized well</a:t>
            </a:r>
            <a:endParaRPr lang="en-GB" sz="20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r>
              <a:rPr lang="en-GB" sz="2000" dirty="0"/>
              <a:t>Better Model: Logistic Reg = 72.1%</a:t>
            </a:r>
            <a:endParaRPr lang="en-GB" sz="20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endParaRPr lang="en-GB" sz="2000" dirty="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>
                <a:latin typeface="Consolas"/>
                <a:ea typeface="Calibri"/>
                <a:cs typeface="Calibri"/>
              </a:rPr>
              <a:t>Accuracy: 0.483 </a:t>
            </a:r>
            <a:endParaRPr lang="en-GB" sz="2000" dirty="0">
              <a:latin typeface="Century Gothic" panose="020B0502020202020204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>
                <a:latin typeface="Consolas"/>
                <a:ea typeface="Calibri"/>
                <a:cs typeface="Calibri"/>
              </a:rPr>
              <a:t>Confusion Matrix: </a:t>
            </a:r>
            <a:endParaRPr lang="en-GB" sz="2000" dirty="0">
              <a:latin typeface="Century Gothic" panose="020B0502020202020204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>
                <a:latin typeface="Consolas"/>
                <a:ea typeface="Calibri"/>
                <a:cs typeface="Calibri"/>
              </a:rPr>
              <a:t>[[ 79 18 0 0 18 0 0 0]</a:t>
            </a:r>
            <a:endParaRPr lang="en-GB" sz="2000" dirty="0">
              <a:latin typeface="Century Gothic" panose="020B0502020202020204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>
                <a:latin typeface="Consolas"/>
                <a:ea typeface="Calibri"/>
                <a:cs typeface="Calibri"/>
              </a:rPr>
              <a:t>[ 8 125 5 0 1 0 0 23] </a:t>
            </a:r>
            <a:endParaRPr lang="en-GB" sz="2000" dirty="0">
              <a:latin typeface="Century Gothic" panose="020B0502020202020204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>
                <a:latin typeface="Consolas"/>
                <a:ea typeface="Calibri"/>
                <a:cs typeface="Calibri"/>
              </a:rPr>
              <a:t>[ 0 10 44 10 0 0 9 27] </a:t>
            </a:r>
            <a:endParaRPr lang="en-GB" sz="2000" dirty="0">
              <a:latin typeface="Century Gothic" panose="020B0502020202020204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>
                <a:latin typeface="Consolas"/>
                <a:ea typeface="Calibri"/>
                <a:cs typeface="Calibri"/>
              </a:rPr>
              <a:t>[ 0 2 19 5 0 0 2 13] </a:t>
            </a:r>
            <a:endParaRPr lang="en-GB" sz="2000" dirty="0">
              <a:latin typeface="Century Gothic" panose="020B0502020202020204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>
                <a:latin typeface="Consolas"/>
                <a:ea typeface="Calibri"/>
                <a:cs typeface="Calibri"/>
              </a:rPr>
              <a:t>[ 26 15 0 0 16 0 0 0] </a:t>
            </a:r>
            <a:endParaRPr lang="en-GB" sz="2000" dirty="0">
              <a:latin typeface="Century Gothic" panose="020B0502020202020204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>
                <a:latin typeface="Consolas"/>
                <a:ea typeface="Calibri"/>
                <a:cs typeface="Calibri"/>
              </a:rPr>
              <a:t>[ 7 0 0 0 1 15 0 0] </a:t>
            </a:r>
            <a:endParaRPr lang="en-GB" sz="2000" dirty="0">
              <a:latin typeface="Century Gothic" panose="020B0502020202020204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>
                <a:latin typeface="Consolas"/>
                <a:ea typeface="Calibri"/>
                <a:cs typeface="Calibri"/>
              </a:rPr>
              <a:t>[ 0 1 25 8 0 0 8 19] </a:t>
            </a:r>
            <a:endParaRPr lang="en-GB" sz="2000" dirty="0">
              <a:latin typeface="Century Gothic" panose="020B0502020202020204"/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sz="2000" dirty="0">
                <a:latin typeface="Consolas"/>
                <a:ea typeface="Calibri"/>
                <a:cs typeface="Calibri"/>
              </a:rPr>
              <a:t>[ 0 19 48 20 0 0 13 51]] </a:t>
            </a:r>
            <a:endParaRPr lang="en-GB" sz="2000" dirty="0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GB" sz="20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5751" y="624110"/>
            <a:ext cx="3102795" cy="1280890"/>
          </a:xfrm>
        </p:spPr>
        <p:txBody>
          <a:bodyPr>
            <a:normAutofit/>
          </a:bodyPr>
          <a:lstStyle/>
          <a:p>
            <a:r>
              <a:rPr lang="en-GB" sz="2800"/>
              <a:t>KMeans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413" y="2133600"/>
            <a:ext cx="3634133" cy="37644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sz="2400" err="1">
                <a:solidFill>
                  <a:schemeClr val="tx1"/>
                </a:solidFill>
              </a:rPr>
              <a:t>KMeans</a:t>
            </a:r>
            <a:r>
              <a:rPr lang="en-GB" sz="2400" dirty="0">
                <a:solidFill>
                  <a:schemeClr val="tx1"/>
                </a:solidFill>
              </a:rPr>
              <a:t> Clustering</a:t>
            </a:r>
            <a:endParaRPr lang="en-GB" sz="2400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GB" sz="2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GB" sz="2400" dirty="0">
                <a:solidFill>
                  <a:schemeClr val="tx1"/>
                </a:solidFill>
              </a:rPr>
              <a:t>Optimal K = 3</a:t>
            </a:r>
            <a:endParaRPr lang="en-GB" sz="2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GB" sz="2400" dirty="0">
                <a:solidFill>
                  <a:schemeClr val="tx1"/>
                </a:solidFill>
              </a:rPr>
              <a:t>1. Morning Regulars</a:t>
            </a:r>
            <a:endParaRPr lang="en-GB" sz="2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GB" sz="2400" dirty="0">
                <a:solidFill>
                  <a:schemeClr val="tx1"/>
                </a:solidFill>
              </a:rPr>
              <a:t>2. Afternoon Rush</a:t>
            </a:r>
            <a:endParaRPr lang="en-GB" sz="2400" dirty="0">
              <a:solidFill>
                <a:schemeClr val="tx1"/>
              </a:solidFill>
              <a:ea typeface="Calibri"/>
              <a:cs typeface="Calibri"/>
            </a:endParaRPr>
          </a:p>
          <a:p>
            <a:r>
              <a:rPr lang="en-GB" sz="2400" dirty="0">
                <a:solidFill>
                  <a:schemeClr val="tx1"/>
                </a:solidFill>
              </a:rPr>
              <a:t>3. Night Premium</a:t>
            </a:r>
            <a:endParaRPr lang="en-GB" sz="2400" dirty="0">
              <a:solidFill>
                <a:schemeClr val="tx1"/>
              </a:solidFill>
              <a:ea typeface="Calibri"/>
              <a:cs typeface="Calibri"/>
            </a:endParaRPr>
          </a:p>
          <a:p>
            <a:endParaRPr lang="en-GB" sz="140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4" name="Picture 3" descr="A chart of different colored circles&#10;&#10;AI-generated content may be incorrect.">
            <a:extLst>
              <a:ext uri="{FF2B5EF4-FFF2-40B4-BE49-F238E27FC236}">
                <a16:creationId xmlns:a16="http://schemas.microsoft.com/office/drawing/2014/main" id="{16931B9B-DED8-327A-E6B6-549AE133A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0504" y="169407"/>
            <a:ext cx="4338417" cy="3240599"/>
          </a:xfrm>
          <a:prstGeom prst="rect">
            <a:avLst/>
          </a:prstGeom>
        </p:spPr>
      </p:pic>
      <p:pic>
        <p:nvPicPr>
          <p:cNvPr id="5" name="Picture 4" descr="A graph of a graph showing a line&#10;&#10;AI-generated content may be incorrect.">
            <a:extLst>
              <a:ext uri="{FF2B5EF4-FFF2-40B4-BE49-F238E27FC236}">
                <a16:creationId xmlns:a16="http://schemas.microsoft.com/office/drawing/2014/main" id="{ADB69F77-3C1C-E437-A893-14629C70F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5195" y="3455674"/>
            <a:ext cx="4353435" cy="30714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9FE08D8-CEA0-461E-870A-02CD15D9B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3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919" y="3101093"/>
            <a:ext cx="1840539" cy="3029344"/>
          </a:xfrm>
        </p:spPr>
        <p:txBody>
          <a:bodyPr>
            <a:normAutofit/>
          </a:bodyPr>
          <a:lstStyle/>
          <a:p>
            <a:r>
              <a:rPr lang="en-GB" sz="1300">
                <a:solidFill>
                  <a:schemeClr val="bg1"/>
                </a:solidFill>
              </a:rPr>
              <a:t>Business Recommendations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2B982904-A46E-41DF-BA98-61E2300C7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19" y="3179901"/>
            <a:ext cx="823645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7018161-547E-48F7-A0D9-272C9EA5B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96802" y="0"/>
            <a:ext cx="55471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6002" y="774716"/>
            <a:ext cx="5098525" cy="53215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dirty="0"/>
              <a:t>Business Strategy</a:t>
            </a:r>
            <a:endParaRPr lang="en-GB" sz="2400" dirty="0">
              <a:ea typeface="Calibri"/>
              <a:cs typeface="Calibri"/>
            </a:endParaRPr>
          </a:p>
          <a:p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1. Stock Americano in afternoon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2. Morning combos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3. After-8PM premium menu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4. Dynamic pricing</a:t>
            </a:r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5. Forecast demand w/ regression</a:t>
            </a:r>
            <a:endParaRPr lang="en-GB" sz="2400" dirty="0">
              <a:ea typeface="Calibri"/>
              <a:cs typeface="Calibri"/>
            </a:endParaRPr>
          </a:p>
          <a:p>
            <a:endParaRPr lang="en-GB" sz="2400" dirty="0">
              <a:ea typeface="Calibri"/>
              <a:cs typeface="Calibri"/>
            </a:endParaRPr>
          </a:p>
          <a:p>
            <a:r>
              <a:rPr lang="en-GB" sz="2400" dirty="0"/>
              <a:t>Impact: +15% revenue</a:t>
            </a:r>
            <a:endParaRPr lang="en-GB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514" y="942108"/>
            <a:ext cx="2442412" cy="4969113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tx2">
                    <a:lumMod val="75000"/>
                  </a:schemeClr>
                </a:solidFill>
              </a:rPr>
              <a:t>GitHub &amp; Version Control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86796" y="942108"/>
            <a:ext cx="4841662" cy="496911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GitHub &amp; Version Control</a:t>
            </a:r>
            <a:endParaRPr lang="en-GB" sz="240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endParaRPr lang="en-GB" sz="240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Repo: </a:t>
            </a:r>
            <a:endParaRPr lang="en-GB" sz="240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GB" sz="240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Sample:</a:t>
            </a:r>
            <a:endParaRPr lang="en-GB" sz="240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GB" sz="2400" dirty="0">
                <a:solidFill>
                  <a:schemeClr val="tx2">
                    <a:lumMod val="75000"/>
                  </a:schemeClr>
                </a:solidFill>
              </a:rPr>
              <a:t>git commit -m 'Added '</a:t>
            </a:r>
            <a:endParaRPr lang="en-GB" sz="2400" dirty="0">
              <a:solidFill>
                <a:schemeClr val="tx2">
                  <a:lumMod val="75000"/>
                </a:schemeClr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6AFD431-09B7-42CA-BF39-9FE5DBE53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11C96E-3D2D-48C8-AAB9-C1CB02D1D5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4507495" y="0"/>
            <a:ext cx="4632727" cy="6853245"/>
            <a:chOff x="2487613" y="285750"/>
            <a:chExt cx="2428876" cy="5654676"/>
          </a:xfrm>
          <a:solidFill>
            <a:schemeClr val="tx2">
              <a:lumMod val="90000"/>
            </a:schemeClr>
          </a:solidFill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D18AF42-7CD5-4754-91D4-1BE53B5D1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28C8F1A-9407-4D67-8250-D8923BC6DD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CE0A2B0-F7F1-442C-A287-CD6F729E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E69CFA3-AE12-4EAF-A3A1-564BEEFEF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CB64037-2AE8-4CA9-AD8E-7ACC8618F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D319B10-EE8E-453F-A137-D7EEFA208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283F486-509C-4A42-8EED-794A991D2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BBFBB12-E756-4386-9C17-CA5743838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7ADD0E7E-F4A6-4B3F-8A2F-BCBFAFBA2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C19FCFB7-5E71-4197-8EC7-2ACB6DB028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EAA533FE-4903-48DD-A921-421A9C44AF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4CC5D8E-0D6C-4021-B84E-5D6182C0E1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79817" y="1159566"/>
            <a:ext cx="2747204" cy="4568264"/>
          </a:xfrm>
        </p:spPr>
        <p:txBody>
          <a:bodyPr anchor="ctr">
            <a:normAutofit/>
          </a:bodyPr>
          <a:lstStyle/>
          <a:p>
            <a:r>
              <a:rPr lang="en-GB">
                <a:solidFill>
                  <a:schemeClr val="bg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24" name="Freeform 6">
            <a:extLst>
              <a:ext uri="{FF2B5EF4-FFF2-40B4-BE49-F238E27FC236}">
                <a16:creationId xmlns:a16="http://schemas.microsoft.com/office/drawing/2014/main" id="{E7D63BAB-D0DB-4F66-92F9-4D2E0A2E5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643468"/>
            <a:ext cx="5670183" cy="557106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982" y="1286934"/>
            <a:ext cx="3969327" cy="428413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GB" dirty="0">
              <a:solidFill>
                <a:srgbClr val="FFFFFF"/>
              </a:solidFill>
            </a:endParaRPr>
          </a:p>
          <a:p>
            <a:r>
              <a:rPr lang="en-GB" dirty="0">
                <a:solidFill>
                  <a:srgbClr val="FFFFFF"/>
                </a:solidFill>
                <a:ea typeface="Calibri"/>
                <a:cs typeface="Calibri"/>
              </a:rPr>
              <a:t>Questions?</a:t>
            </a:r>
          </a:p>
          <a:p>
            <a:r>
              <a:rPr lang="en-GB" dirty="0">
                <a:solidFill>
                  <a:srgbClr val="FFFFFF"/>
                </a:solidFill>
                <a:ea typeface="Calibri"/>
                <a:cs typeface="Calibri"/>
              </a:rPr>
              <a:t>Ready to discuss code &amp; ML models.</a:t>
            </a:r>
          </a:p>
          <a:p>
            <a:endParaRPr lang="en-GB">
              <a:solidFill>
                <a:srgbClr val="FFFFFF"/>
              </a:solidFill>
              <a:ea typeface="Calibri"/>
              <a:cs typeface="Calibri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Wisp</vt:lpstr>
      <vt:lpstr>Title Slide</vt:lpstr>
      <vt:lpstr>Agenda</vt:lpstr>
      <vt:lpstr>Dataset Overviw</vt:lpstr>
      <vt:lpstr>PowerPoint Presentation</vt:lpstr>
      <vt:lpstr>Data Cleaning</vt:lpstr>
      <vt:lpstr>Descriptive Statistics</vt:lpstr>
      <vt:lpstr>PowerPoint Presentation</vt:lpstr>
      <vt:lpstr>Chart 1 – Price vs Hour</vt:lpstr>
      <vt:lpstr>Chart 2 – Boxplot</vt:lpstr>
      <vt:lpstr>Hypothesis Testing</vt:lpstr>
      <vt:lpstr>Linear Regression</vt:lpstr>
      <vt:lpstr>KNN Classification</vt:lpstr>
      <vt:lpstr>KMeans Clustering</vt:lpstr>
      <vt:lpstr>Business Recommendations</vt:lpstr>
      <vt:lpstr>GitHub &amp; Version Control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304</cp:revision>
  <dcterms:created xsi:type="dcterms:W3CDTF">2013-01-27T09:14:16Z</dcterms:created>
  <dcterms:modified xsi:type="dcterms:W3CDTF">2025-11-03T20:04:59Z</dcterms:modified>
  <cp:category/>
</cp:coreProperties>
</file>